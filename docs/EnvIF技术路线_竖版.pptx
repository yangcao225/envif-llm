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1625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279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3F85D-4725-7FB3-5111-31B57D60F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660416"/>
            <a:ext cx="6858000" cy="565949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AC3703-042A-D067-D1E3-172FD5AFE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8538164"/>
            <a:ext cx="6858000" cy="392476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01B1A0-181A-1A0D-53D4-C762F1C5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69C387-7DCC-6D1A-F6C7-0D34CAA1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032CAB-B112-5C63-06D3-9A93F166E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87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C51B3-48BE-440C-7FB3-6CBCE928C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342FE-59DF-53D2-21C7-C17A98F61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1996D6-A3A5-D5A1-8934-0F79363F0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F6C752-1222-2B0F-36E5-98BA25834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3A58A2-C67E-8965-3657-D952BAE4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05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FEF33-4B11-3448-5E9F-33D13534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4052716"/>
            <a:ext cx="7886700" cy="676204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9BEB10-093B-FD8F-B9DA-E8EA8E09B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0878731"/>
            <a:ext cx="7886700" cy="3555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FA58A2-E2A1-9795-0171-29168C3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24B974-0BE8-5E7D-0640-C4EAFDE0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4D2FC4-1FE7-3299-BD83-7CCE5740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186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CC279-800F-CD7D-0568-69A8C0085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0533D7-9658-9A75-3F0E-D4116BB8A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4327407"/>
            <a:ext cx="3886200" cy="103142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1F2DBB-BA6B-01D2-36D0-74F723E6A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4327407"/>
            <a:ext cx="3886200" cy="103142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68C74F-E535-C798-EDDB-84F4D06D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1792A7-68E9-0012-5602-629260B38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C87219-91A3-E425-50A3-E16338BD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884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8B2B0-6562-7E7F-D862-2CC8C3464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865485"/>
            <a:ext cx="7886700" cy="31420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2948D7-47E9-E65B-1AC0-5DBCA23A3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3984979"/>
            <a:ext cx="3868340" cy="195297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718F2-C4A5-E7FB-8C23-04166B653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5937956"/>
            <a:ext cx="3868340" cy="8733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C93C5F-1D3D-0BA3-DC4E-495E58AEC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3984979"/>
            <a:ext cx="3887391" cy="195297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CC4578-4BDE-D96F-E723-40B673DE7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5937956"/>
            <a:ext cx="3887391" cy="8733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8C2FE8-FE9E-AC59-CE2A-55955E4D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B3C660-5FA9-6321-6FD1-32FD7BB0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022689-69C2-299E-3D71-B4F2C333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317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7CCB4-158D-8904-67EA-DE6112D4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6910F0-FD75-BB66-A131-A1043591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824FA5-8C5D-F28D-C29C-21A2B60E9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6706B3-13F2-EB43-5EF2-8717EEE6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82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44ACD4-55FA-E561-9C5B-52FE93A80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176E02-A379-7361-3437-5DC7D1AA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C6B256-844E-86E4-95A7-0E8F65F5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663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2CDA8-E9B5-FA09-D840-7F7DDA60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083733"/>
            <a:ext cx="2949178" cy="379306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79A9FA-21B6-3B4B-AF39-08988EED6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2340567"/>
            <a:ext cx="4629150" cy="1155229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F14E96-1A0F-61CB-ABDD-E69420103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4876800"/>
            <a:ext cx="2949178" cy="903487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E1E1DF-26F2-1418-2153-294828BE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188006-8552-93EA-0138-2AEA6C2BD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924DD-58D2-6AD4-5DBD-1E29CF28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39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B404B-C29B-B150-F27A-8336E4C54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083733"/>
            <a:ext cx="2949178" cy="379306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DE2CA3-0F8B-55DC-3288-F692DABD588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2340567"/>
            <a:ext cx="4629150" cy="11552296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AE9C73-95C9-5D45-1559-B99CC3D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4876800"/>
            <a:ext cx="2949178" cy="903487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50D3A8-B527-97EB-E8DE-A8E7361D3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5C8AC-E431-E87F-8BAA-A25CCEB77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44E879-6FCD-0E51-5048-FD7ADFA6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64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22943-D424-5F7A-A637-D1044253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2DCF3C-9C32-59CF-BE76-1A22B2B90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1A2406-F840-B0BE-65CD-B258F3715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8205C5-08B0-111D-93E3-16EDDEEE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63F713-7486-9412-E114-8B51454A6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796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350F21-6FD1-3B95-882B-37F0DCE49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865481"/>
            <a:ext cx="1971675" cy="1377620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03154F-63BA-9666-6A6D-5A0C4ECE1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865481"/>
            <a:ext cx="5800725" cy="1377620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1950CA-440D-BE38-8935-22EB25A1A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EDAFAD-2CB3-BA18-1112-0E62FD5A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A22E65-4F3A-5C52-5964-7B6EC054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780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BDCF2A-734A-F7F9-0CE3-6D2D7B30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65485"/>
            <a:ext cx="78867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B0B9AC-AB3E-1940-538D-4314FA117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4327407"/>
            <a:ext cx="78867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8FEB6F-1AAC-33BF-2879-4EA8CECC3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15066908"/>
            <a:ext cx="20574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C1D19-BDD1-4F51-A76B-FAF80EBFF7B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F0F8A3-9157-76C5-A8EF-1BAB580D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5066908"/>
            <a:ext cx="30861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DDBBDD-9C60-5B27-0F20-97C8408A2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15066908"/>
            <a:ext cx="20574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F8CDD-62B1-41D8-80B0-77384F96A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982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FFFCB61-7E32-CBAE-6F70-E2FD9C9997B0}"/>
              </a:ext>
            </a:extLst>
          </p:cNvPr>
          <p:cNvSpPr/>
          <p:nvPr/>
        </p:nvSpPr>
        <p:spPr>
          <a:xfrm>
            <a:off x="0" y="0"/>
            <a:ext cx="9144000" cy="162560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0A824BD-0057-1738-F910-8E7DFD165516}"/>
              </a:ext>
            </a:extLst>
          </p:cNvPr>
          <p:cNvSpPr/>
          <p:nvPr/>
        </p:nvSpPr>
        <p:spPr>
          <a:xfrm>
            <a:off x="1422400" y="228600"/>
            <a:ext cx="7493000" cy="2387600"/>
          </a:xfrm>
          <a:prstGeom prst="roundRect">
            <a:avLst/>
          </a:prstGeom>
          <a:solidFill>
            <a:srgbClr val="FFF9E1"/>
          </a:solidFill>
          <a:ln w="17145">
            <a:solidFill>
              <a:srgbClr val="C4B08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AFD8020-3ECD-BD4F-A727-3C596853BE3B}"/>
              </a:ext>
            </a:extLst>
          </p:cNvPr>
          <p:cNvSpPr/>
          <p:nvPr/>
        </p:nvSpPr>
        <p:spPr>
          <a:xfrm>
            <a:off x="177800" y="889000"/>
            <a:ext cx="1092200" cy="1066800"/>
          </a:xfrm>
          <a:prstGeom prst="roundRect">
            <a:avLst/>
          </a:prstGeom>
          <a:solidFill>
            <a:srgbClr val="2F4050"/>
          </a:solidFill>
          <a:ln w="0">
            <a:solidFill>
              <a:srgbClr val="2F4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
问题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0452D9B-20FF-5B0D-406A-F0C96A943F1B}"/>
              </a:ext>
            </a:extLst>
          </p:cNvPr>
          <p:cNvSpPr/>
          <p:nvPr/>
        </p:nvSpPr>
        <p:spPr>
          <a:xfrm>
            <a:off x="1625600" y="381000"/>
            <a:ext cx="7086600" cy="55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08CB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2F4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1300" b="1">
                <a:solidFill>
                  <a:srgbClr val="2F4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AutoIF </a:t>
            </a:r>
            <a:r>
              <a:rPr lang="zh-CN" altLang="en-US" sz="1300" b="1">
                <a:solidFill>
                  <a:srgbClr val="2F4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的环境工程指令遵循优化（</a:t>
            </a:r>
            <a:r>
              <a:rPr lang="en-US" altLang="zh-CN" sz="1300" b="1">
                <a:solidFill>
                  <a:srgbClr val="2F4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EnvIF-TLR</a:t>
            </a:r>
            <a:r>
              <a:rPr lang="zh-CN" altLang="en-US" sz="1300" b="1">
                <a:solidFill>
                  <a:srgbClr val="2F4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1E46667A-3E5D-F450-495B-8B4CC25B0876}"/>
              </a:ext>
            </a:extLst>
          </p:cNvPr>
          <p:cNvSpPr/>
          <p:nvPr/>
        </p:nvSpPr>
        <p:spPr>
          <a:xfrm>
            <a:off x="5105400" y="965200"/>
            <a:ext cx="139700" cy="152400"/>
          </a:xfrm>
          <a:prstGeom prst="downArrow">
            <a:avLst/>
          </a:prstGeom>
          <a:solidFill>
            <a:srgbClr val="464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FDBDE9B-9EA4-7B2F-72D6-984405260583}"/>
              </a:ext>
            </a:extLst>
          </p:cNvPr>
          <p:cNvSpPr/>
          <p:nvPr/>
        </p:nvSpPr>
        <p:spPr>
          <a:xfrm>
            <a:off x="1625600" y="1143000"/>
            <a:ext cx="7086600" cy="55880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D2AA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任务：污水处理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环境监测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大气污染（含硫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含氮烟气）的结构化回答
不是环境工程专家大模型</a:t>
            </a:r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6CB352B9-893E-ACF1-5C5D-22A1A7541D2A}"/>
              </a:ext>
            </a:extLst>
          </p:cNvPr>
          <p:cNvSpPr/>
          <p:nvPr/>
        </p:nvSpPr>
        <p:spPr>
          <a:xfrm>
            <a:off x="5105400" y="1727200"/>
            <a:ext cx="139700" cy="152400"/>
          </a:xfrm>
          <a:prstGeom prst="downArrow">
            <a:avLst/>
          </a:prstGeom>
          <a:solidFill>
            <a:srgbClr val="464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82EB8E5-829E-4A05-EE27-03DE95F770A9}"/>
              </a:ext>
            </a:extLst>
          </p:cNvPr>
          <p:cNvSpPr/>
          <p:nvPr/>
        </p:nvSpPr>
        <p:spPr>
          <a:xfrm>
            <a:off x="1625600" y="1905000"/>
            <a:ext cx="7086600" cy="55880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D2AA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方法增量：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Typed Layered Reward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（带单位计算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知识边界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分类型难负样本）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FEF7D71B-E883-28BE-9B0B-0405B7AEB507}"/>
              </a:ext>
            </a:extLst>
          </p:cNvPr>
          <p:cNvSpPr/>
          <p:nvPr/>
        </p:nvSpPr>
        <p:spPr>
          <a:xfrm>
            <a:off x="5105400" y="2616200"/>
            <a:ext cx="139700" cy="177800"/>
          </a:xfrm>
          <a:prstGeom prst="downArrow">
            <a:avLst/>
          </a:prstGeom>
          <a:solidFill>
            <a:srgbClr val="464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D7DD8A2-7EC1-2778-F17D-BDD3E09F856E}"/>
              </a:ext>
            </a:extLst>
          </p:cNvPr>
          <p:cNvSpPr/>
          <p:nvPr/>
        </p:nvSpPr>
        <p:spPr>
          <a:xfrm>
            <a:off x="1422400" y="2844800"/>
            <a:ext cx="7493000" cy="3708400"/>
          </a:xfrm>
          <a:prstGeom prst="roundRect">
            <a:avLst/>
          </a:prstGeom>
          <a:solidFill>
            <a:srgbClr val="FFF9E1"/>
          </a:solidFill>
          <a:ln w="17145">
            <a:solidFill>
              <a:srgbClr val="C4B08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F812D21-19AC-2D2A-D78D-17AE87282DF2}"/>
              </a:ext>
            </a:extLst>
          </p:cNvPr>
          <p:cNvSpPr/>
          <p:nvPr/>
        </p:nvSpPr>
        <p:spPr>
          <a:xfrm>
            <a:off x="177800" y="4064000"/>
            <a:ext cx="1092200" cy="1270000"/>
          </a:xfrm>
          <a:prstGeom prst="roundRect">
            <a:avLst/>
          </a:prstGeom>
          <a:solidFill>
            <a:srgbClr val="2F4050"/>
          </a:solidFill>
          <a:ln w="0">
            <a:solidFill>
              <a:srgbClr val="2F4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数据收集
与处理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AE51014-E06C-CB14-D7C9-780BA2696D35}"/>
              </a:ext>
            </a:extLst>
          </p:cNvPr>
          <p:cNvSpPr/>
          <p:nvPr/>
        </p:nvSpPr>
        <p:spPr>
          <a:xfrm>
            <a:off x="1625600" y="3022600"/>
            <a:ext cx="2260600" cy="660400"/>
          </a:xfrm>
          <a:prstGeom prst="roundRect">
            <a:avLst/>
          </a:prstGeom>
          <a:solidFill>
            <a:srgbClr val="D6EAF8"/>
          </a:solidFill>
          <a:ln w="14605">
            <a:solidFill>
              <a:srgbClr val="8CB4C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污水处理
负荷 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去除率 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HRT</a:t>
            </a:r>
            <a:endParaRPr lang="zh-CN" altLang="en-US" sz="1100" b="1">
              <a:solidFill>
                <a:srgbClr val="2D34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AFFCA22-0650-C7B4-B084-8BA3BF769242}"/>
              </a:ext>
            </a:extLst>
          </p:cNvPr>
          <p:cNvSpPr/>
          <p:nvPr/>
        </p:nvSpPr>
        <p:spPr>
          <a:xfrm>
            <a:off x="4013200" y="3022600"/>
            <a:ext cx="2260600" cy="660400"/>
          </a:xfrm>
          <a:prstGeom prst="roundRect">
            <a:avLst/>
          </a:prstGeom>
          <a:solidFill>
            <a:srgbClr val="D6EAF8"/>
          </a:solidFill>
          <a:ln w="14605">
            <a:solidFill>
              <a:srgbClr val="8CB4C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环境监测
报告格式 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 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信息不足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614C177-FD6E-211B-C292-B5870D724D64}"/>
              </a:ext>
            </a:extLst>
          </p:cNvPr>
          <p:cNvSpPr/>
          <p:nvPr/>
        </p:nvSpPr>
        <p:spPr>
          <a:xfrm>
            <a:off x="6400800" y="3022600"/>
            <a:ext cx="2260600" cy="660400"/>
          </a:xfrm>
          <a:prstGeom prst="roundRect">
            <a:avLst/>
          </a:prstGeom>
          <a:solidFill>
            <a:srgbClr val="D6EAF8"/>
          </a:solidFill>
          <a:ln w="14605">
            <a:solidFill>
              <a:srgbClr val="8CB4C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大气污染
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SO₂ NOx </a:t>
            </a:r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烟气 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脱硫脱硝 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A042210-DA93-0571-6947-44AC7BAF64EA}"/>
              </a:ext>
            </a:extLst>
          </p:cNvPr>
          <p:cNvSpPr/>
          <p:nvPr/>
        </p:nvSpPr>
        <p:spPr>
          <a:xfrm>
            <a:off x="1625600" y="3810000"/>
            <a:ext cx="2260600" cy="6604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种子指令  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52 </a:t>
            </a:r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
可程序验证约束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6B52F50-740A-8AF2-AC2E-4B7421D54D68}"/>
              </a:ext>
            </a:extLst>
          </p:cNvPr>
          <p:cNvSpPr/>
          <p:nvPr/>
        </p:nvSpPr>
        <p:spPr>
          <a:xfrm>
            <a:off x="4013200" y="3810000"/>
            <a:ext cx="2260600" cy="6604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厂区案例
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train 1020 / test 389</a:t>
            </a:r>
            <a:endParaRPr lang="zh-CN" altLang="en-US" sz="1000">
              <a:solidFill>
                <a:srgbClr val="2D34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E33F480-DC5D-CCF9-707E-FEB9E6DE537E}"/>
              </a:ext>
            </a:extLst>
          </p:cNvPr>
          <p:cNvSpPr/>
          <p:nvPr/>
        </p:nvSpPr>
        <p:spPr>
          <a:xfrm>
            <a:off x="6400800" y="3810000"/>
            <a:ext cx="2260600" cy="6604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gold </a:t>
            </a:r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公式与单位
禁止套用污水公式到烟气</a:t>
            </a: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941B2706-2184-53D1-03A7-51E778ED8C33}"/>
              </a:ext>
            </a:extLst>
          </p:cNvPr>
          <p:cNvSpPr/>
          <p:nvPr/>
        </p:nvSpPr>
        <p:spPr>
          <a:xfrm>
            <a:off x="5105400" y="4495800"/>
            <a:ext cx="139700" cy="152400"/>
          </a:xfrm>
          <a:prstGeom prst="downArrow">
            <a:avLst/>
          </a:prstGeom>
          <a:solidFill>
            <a:srgbClr val="464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E081216-4A10-7203-3470-680CB02D7DA0}"/>
              </a:ext>
            </a:extLst>
          </p:cNvPr>
          <p:cNvSpPr/>
          <p:nvPr/>
        </p:nvSpPr>
        <p:spPr>
          <a:xfrm>
            <a:off x="1625600" y="4699000"/>
            <a:ext cx="7086600" cy="711200"/>
          </a:xfrm>
          <a:prstGeom prst="roundRect">
            <a:avLst/>
          </a:prstGeom>
          <a:solidFill>
            <a:srgbClr val="AED6F1"/>
          </a:solidFill>
          <a:ln w="14605">
            <a:solidFill>
              <a:srgbClr val="78A0B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EnvIF-TLR </a:t>
            </a:r>
            <a:r>
              <a:rPr lang="zh-CN" altLang="en-US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离线构造（</a:t>
            </a:r>
            <a:r>
              <a:rPr lang="en-US" altLang="zh-CN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验证器）
不是 </a:t>
            </a:r>
            <a:r>
              <a:rPr lang="en-US" altLang="zh-CN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7B </a:t>
            </a:r>
            <a:r>
              <a:rPr lang="zh-CN" altLang="en-US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教师蒸馏，</a:t>
            </a:r>
            <a:r>
              <a:rPr lang="en-US" altLang="zh-CN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query_rft = 0</a:t>
            </a:r>
            <a:endParaRPr lang="zh-CN" altLang="en-US" sz="1200" b="1">
              <a:solidFill>
                <a:srgbClr val="2D34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24DCFDD7-8518-CCAC-7585-354B21ACA66B}"/>
              </a:ext>
            </a:extLst>
          </p:cNvPr>
          <p:cNvSpPr/>
          <p:nvPr/>
        </p:nvSpPr>
        <p:spPr>
          <a:xfrm>
            <a:off x="5105400" y="5435600"/>
            <a:ext cx="139700" cy="152400"/>
          </a:xfrm>
          <a:prstGeom prst="downArrow">
            <a:avLst/>
          </a:prstGeom>
          <a:solidFill>
            <a:srgbClr val="464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99762EE-7CC3-2819-973D-CD4DC7907BFC}"/>
              </a:ext>
            </a:extLst>
          </p:cNvPr>
          <p:cNvSpPr/>
          <p:nvPr/>
        </p:nvSpPr>
        <p:spPr>
          <a:xfrm>
            <a:off x="1625600" y="5638800"/>
            <a:ext cx="7086600" cy="7112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得到多主线联合语料：离线 </a:t>
            </a:r>
            <a:r>
              <a:rPr lang="en-US" altLang="zh-CN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SFT  1020 </a:t>
            </a:r>
            <a:r>
              <a:rPr lang="zh-CN" altLang="en-US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    </a:t>
            </a:r>
            <a:r>
              <a:rPr lang="en-US" altLang="zh-CN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   </a:t>
            </a:r>
            <a:r>
              <a:rPr lang="zh-CN" altLang="en-US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 </a:t>
            </a:r>
            <a:r>
              <a:rPr lang="en-US" altLang="zh-CN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DPO  2667 </a:t>
            </a:r>
            <a:r>
              <a:rPr lang="zh-CN" altLang="en-US" sz="12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B8D2E9A0-D39A-EE73-BA18-05CA0292CCBC}"/>
              </a:ext>
            </a:extLst>
          </p:cNvPr>
          <p:cNvSpPr/>
          <p:nvPr/>
        </p:nvSpPr>
        <p:spPr>
          <a:xfrm>
            <a:off x="5105400" y="6553200"/>
            <a:ext cx="139700" cy="177800"/>
          </a:xfrm>
          <a:prstGeom prst="downArrow">
            <a:avLst/>
          </a:prstGeom>
          <a:solidFill>
            <a:srgbClr val="464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3E88330-4E5B-7F3A-A3F5-1F17AF69CFF8}"/>
              </a:ext>
            </a:extLst>
          </p:cNvPr>
          <p:cNvSpPr/>
          <p:nvPr/>
        </p:nvSpPr>
        <p:spPr>
          <a:xfrm>
            <a:off x="1422400" y="6781800"/>
            <a:ext cx="7493000" cy="6172200"/>
          </a:xfrm>
          <a:prstGeom prst="roundRect">
            <a:avLst/>
          </a:prstGeom>
          <a:solidFill>
            <a:srgbClr val="FFF9E1"/>
          </a:solidFill>
          <a:ln w="17145">
            <a:solidFill>
              <a:srgbClr val="C4B08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C8AB79B-FB87-95D1-05A0-7054CBF3B5C9}"/>
              </a:ext>
            </a:extLst>
          </p:cNvPr>
          <p:cNvSpPr/>
          <p:nvPr/>
        </p:nvSpPr>
        <p:spPr>
          <a:xfrm>
            <a:off x="177800" y="9067800"/>
            <a:ext cx="1092200" cy="1524000"/>
          </a:xfrm>
          <a:prstGeom prst="roundRect">
            <a:avLst/>
          </a:prstGeom>
          <a:solidFill>
            <a:srgbClr val="2F4050"/>
          </a:solidFill>
          <a:ln w="0">
            <a:solidFill>
              <a:srgbClr val="2F4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模型构建
与优化
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EnvIF-TLR</a:t>
            </a:r>
            <a:endParaRPr lang="zh-CN" altLang="en-US"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283115-9F70-6585-3907-6374027E36EF}"/>
              </a:ext>
            </a:extLst>
          </p:cNvPr>
          <p:cNvSpPr/>
          <p:nvPr/>
        </p:nvSpPr>
        <p:spPr>
          <a:xfrm>
            <a:off x="1574800" y="6908800"/>
            <a:ext cx="7188200" cy="2667000"/>
          </a:xfrm>
          <a:prstGeom prst="rect">
            <a:avLst/>
          </a:prstGeom>
          <a:solidFill>
            <a:srgbClr val="FFF9E1"/>
          </a:solidFill>
          <a:ln w="17145">
            <a:solidFill>
              <a:srgbClr val="C084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8F475D8-5C02-3C6B-4AD2-5C2F47C4CCB9}"/>
              </a:ext>
            </a:extLst>
          </p:cNvPr>
          <p:cNvSpPr/>
          <p:nvPr/>
        </p:nvSpPr>
        <p:spPr>
          <a:xfrm>
            <a:off x="1701800" y="7010400"/>
            <a:ext cx="2133600" cy="330200"/>
          </a:xfrm>
          <a:prstGeom prst="roundRect">
            <a:avLst/>
          </a:prstGeom>
          <a:solidFill>
            <a:srgbClr val="AED6F1"/>
          </a:solidFill>
          <a:ln w="14605">
            <a:solidFill>
              <a:srgbClr val="78A0B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三层奖励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7DAE1EC-F148-E8F7-03C1-6E236D42CE76}"/>
              </a:ext>
            </a:extLst>
          </p:cNvPr>
          <p:cNvSpPr/>
          <p:nvPr/>
        </p:nvSpPr>
        <p:spPr>
          <a:xfrm>
            <a:off x="3962400" y="7010400"/>
            <a:ext cx="4699000" cy="3302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基座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Qwen2.5-1.5B-Instruct  + 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领域查询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gold</a:t>
            </a:r>
            <a:endParaRPr lang="zh-CN" altLang="en-US" sz="1100">
              <a:solidFill>
                <a:srgbClr val="2D34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E5A790E-0065-7FC3-AC31-14A6B6AEFF35}"/>
              </a:ext>
            </a:extLst>
          </p:cNvPr>
          <p:cNvSpPr/>
          <p:nvPr/>
        </p:nvSpPr>
        <p:spPr>
          <a:xfrm>
            <a:off x="1701800" y="7442200"/>
            <a:ext cx="2260600" cy="1270000"/>
          </a:xfrm>
          <a:prstGeom prst="roundRect">
            <a:avLst/>
          </a:prstGeom>
          <a:solidFill>
            <a:srgbClr val="D6EAF8"/>
          </a:solidFill>
          <a:ln w="14605">
            <a:solidFill>
              <a:srgbClr val="8CB4C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格式层 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L1
</a:t>
            </a:r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 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 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两位小数
信息不足前缀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6157446-C1DF-0C64-9257-AF86677A2BAF}"/>
              </a:ext>
            </a:extLst>
          </p:cNvPr>
          <p:cNvSpPr/>
          <p:nvPr/>
        </p:nvSpPr>
        <p:spPr>
          <a:xfrm>
            <a:off x="4089400" y="7442200"/>
            <a:ext cx="2260600" cy="1270000"/>
          </a:xfrm>
          <a:prstGeom prst="roundRect">
            <a:avLst/>
          </a:prstGeom>
          <a:solidFill>
            <a:srgbClr val="D6EAF8"/>
          </a:solidFill>
          <a:ln w="14605">
            <a:solidFill>
              <a:srgbClr val="8CB4C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计算层 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</a:t>
            </a:r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（带单位）
污水 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Q×C×0.001
</a:t>
            </a:r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烟气 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Qg×C×24×10⁻⁶
</a:t>
            </a:r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基准氧 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(21−O₂,s)/(21−O₂,m)</a:t>
            </a:r>
            <a:endParaRPr lang="zh-CN" altLang="en-US" sz="1000">
              <a:solidFill>
                <a:srgbClr val="2D34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CA7319F-3752-DC99-A56E-3EB2D9C44667}"/>
              </a:ext>
            </a:extLst>
          </p:cNvPr>
          <p:cNvSpPr/>
          <p:nvPr/>
        </p:nvSpPr>
        <p:spPr>
          <a:xfrm>
            <a:off x="6477000" y="7442200"/>
            <a:ext cx="2260600" cy="1270000"/>
          </a:xfrm>
          <a:prstGeom prst="roundRect">
            <a:avLst/>
          </a:prstGeom>
          <a:solidFill>
            <a:srgbClr val="D6EAF8"/>
          </a:solidFill>
          <a:ln w="14605">
            <a:solidFill>
              <a:srgbClr val="8CB4C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知识边界 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L3
</a:t>
            </a:r>
            <a:r>
              <a:rPr lang="zh-CN" altLang="en-US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不编造排放限值
不虚假达标
工艺匹配 湿法</a:t>
            </a:r>
            <a:r>
              <a:rPr lang="en-US" altLang="zh-CN" sz="10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/SCR</a:t>
            </a:r>
            <a:endParaRPr lang="zh-CN" altLang="en-US" sz="1000">
              <a:solidFill>
                <a:srgbClr val="2D34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FC0AEBD8-D911-72B1-9E98-8288B184F452}"/>
              </a:ext>
            </a:extLst>
          </p:cNvPr>
          <p:cNvSpPr/>
          <p:nvPr/>
        </p:nvSpPr>
        <p:spPr>
          <a:xfrm>
            <a:off x="5105400" y="8737600"/>
            <a:ext cx="139700" cy="152400"/>
          </a:xfrm>
          <a:prstGeom prst="downArrow">
            <a:avLst/>
          </a:prstGeom>
          <a:solidFill>
            <a:srgbClr val="464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1A80835-233C-DF6B-743A-1A116F88BDB2}"/>
              </a:ext>
            </a:extLst>
          </p:cNvPr>
          <p:cNvSpPr/>
          <p:nvPr/>
        </p:nvSpPr>
        <p:spPr>
          <a:xfrm>
            <a:off x="1701800" y="8940800"/>
            <a:ext cx="3429000" cy="508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Chosen  →  </a:t>
            </a:r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 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SFT</a:t>
            </a:r>
            <a:endParaRPr lang="zh-CN" altLang="en-US" sz="1100" b="1">
              <a:solidFill>
                <a:srgbClr val="2D34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ED1EAD0-FB26-D581-EFA2-AD10847F5274}"/>
              </a:ext>
            </a:extLst>
          </p:cNvPr>
          <p:cNvSpPr/>
          <p:nvPr/>
        </p:nvSpPr>
        <p:spPr>
          <a:xfrm>
            <a:off x="5334000" y="8940800"/>
            <a:ext cx="3429000" cy="508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Typed rejected  →  DPO
calc / unit / </a:t>
            </a:r>
            <a:r>
              <a:rPr lang="zh-CN" altLang="en-US" sz="10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编造标准 </a:t>
            </a:r>
            <a:r>
              <a:rPr lang="en-US" altLang="zh-CN" sz="10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虚假确定性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63839D4-FA69-CE36-5ACD-C646D2E3A2FA}"/>
              </a:ext>
            </a:extLst>
          </p:cNvPr>
          <p:cNvSpPr/>
          <p:nvPr/>
        </p:nvSpPr>
        <p:spPr>
          <a:xfrm>
            <a:off x="1574800" y="9677400"/>
            <a:ext cx="7188200" cy="889000"/>
          </a:xfrm>
          <a:prstGeom prst="rect">
            <a:avLst/>
          </a:prstGeom>
          <a:solidFill>
            <a:srgbClr val="FFF9E1"/>
          </a:solidFill>
          <a:ln w="17145">
            <a:solidFill>
              <a:srgbClr val="C084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CF31ACD-3AE5-3568-AB52-1D0B0933E464}"/>
              </a:ext>
            </a:extLst>
          </p:cNvPr>
          <p:cNvSpPr/>
          <p:nvPr/>
        </p:nvSpPr>
        <p:spPr>
          <a:xfrm>
            <a:off x="1701800" y="9779000"/>
            <a:ext cx="2133600" cy="330200"/>
          </a:xfrm>
          <a:prstGeom prst="roundRect">
            <a:avLst/>
          </a:prstGeom>
          <a:solidFill>
            <a:srgbClr val="AED6F1"/>
          </a:solidFill>
          <a:ln w="14605">
            <a:solidFill>
              <a:srgbClr val="78A0B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学生模型 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LoRA</a:t>
            </a:r>
            <a:endParaRPr lang="zh-CN" altLang="en-US" sz="1100" b="1">
              <a:solidFill>
                <a:srgbClr val="2D34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2F47A92-5903-7613-B592-66A8FCDCC1FC}"/>
              </a:ext>
            </a:extLst>
          </p:cNvPr>
          <p:cNvSpPr/>
          <p:nvPr/>
        </p:nvSpPr>
        <p:spPr>
          <a:xfrm>
            <a:off x="3962400" y="9779000"/>
            <a:ext cx="4699000" cy="6858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SFT v2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1020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3 epoch · max_len 768 ·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不覆盖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v1
DPO v1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对（未超过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SFT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，不默认更强）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FA5951D-086C-FC0F-3072-BB356D880ADB}"/>
              </a:ext>
            </a:extLst>
          </p:cNvPr>
          <p:cNvSpPr/>
          <p:nvPr/>
        </p:nvSpPr>
        <p:spPr>
          <a:xfrm>
            <a:off x="1574800" y="10693400"/>
            <a:ext cx="7188200" cy="2108200"/>
          </a:xfrm>
          <a:prstGeom prst="rect">
            <a:avLst/>
          </a:prstGeom>
          <a:solidFill>
            <a:srgbClr val="FFF9E1"/>
          </a:solidFill>
          <a:ln w="17145">
            <a:solidFill>
              <a:srgbClr val="C084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BFF038E-D94B-ED15-E2DA-A88A6B52D236}"/>
              </a:ext>
            </a:extLst>
          </p:cNvPr>
          <p:cNvSpPr/>
          <p:nvPr/>
        </p:nvSpPr>
        <p:spPr>
          <a:xfrm>
            <a:off x="1701800" y="10795000"/>
            <a:ext cx="2133600" cy="330200"/>
          </a:xfrm>
          <a:prstGeom prst="roundRect">
            <a:avLst/>
          </a:prstGeom>
          <a:solidFill>
            <a:srgbClr val="AED6F1"/>
          </a:solidFill>
          <a:ln w="14605">
            <a:solidFill>
              <a:srgbClr val="78A0B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评测模块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8FDED32-5A66-9730-D9BB-406B10BA4C2A}"/>
              </a:ext>
            </a:extLst>
          </p:cNvPr>
          <p:cNvSpPr/>
          <p:nvPr/>
        </p:nvSpPr>
        <p:spPr>
          <a:xfrm>
            <a:off x="1701800" y="11226800"/>
            <a:ext cx="2260600" cy="1397000"/>
          </a:xfrm>
          <a:prstGeom prst="roundRect">
            <a:avLst/>
          </a:prstGeom>
          <a:solidFill>
            <a:srgbClr val="D6EAF8"/>
          </a:solidFill>
          <a:ln w="14605">
            <a:solidFill>
              <a:srgbClr val="8CB4C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EnvIF-Bench
79 </a:t>
            </a:r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 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75 </a:t>
            </a:r>
            <a:r>
              <a:rPr lang="zh-CN" altLang="en-US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可自动打分
</a:t>
            </a:r>
            <a:r>
              <a:rPr lang="en-US" altLang="zh-CN" sz="11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 / format
numerical / domain / multi</a:t>
            </a:r>
            <a:endParaRPr lang="zh-CN" altLang="en-US" sz="1100" b="1">
              <a:solidFill>
                <a:srgbClr val="2D34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3C265AD-B82A-C378-C8A9-1F7170143AE1}"/>
              </a:ext>
            </a:extLst>
          </p:cNvPr>
          <p:cNvSpPr/>
          <p:nvPr/>
        </p:nvSpPr>
        <p:spPr>
          <a:xfrm>
            <a:off x="4140200" y="11226800"/>
            <a:ext cx="1397000" cy="635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 1.5B</a:t>
            </a:r>
            <a:endParaRPr lang="zh-CN" altLang="en-US" sz="900">
              <a:solidFill>
                <a:srgbClr val="2D34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78191C5C-5D0B-5445-321B-F9C2AAD30836}"/>
              </a:ext>
            </a:extLst>
          </p:cNvPr>
          <p:cNvSpPr/>
          <p:nvPr/>
        </p:nvSpPr>
        <p:spPr>
          <a:xfrm>
            <a:off x="5638800" y="11226800"/>
            <a:ext cx="1397000" cy="635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SFT v1
72 </a:t>
            </a:r>
            <a:r>
              <a:rPr lang="zh-CN" altLang="en-US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 污水</a:t>
            </a:r>
            <a:r>
              <a:rPr lang="en-US" altLang="zh-CN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监测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31A7EC0-08FB-6895-B5EE-6CF31FD25406}"/>
              </a:ext>
            </a:extLst>
          </p:cNvPr>
          <p:cNvSpPr/>
          <p:nvPr/>
        </p:nvSpPr>
        <p:spPr>
          <a:xfrm>
            <a:off x="7137400" y="11226800"/>
            <a:ext cx="1397000" cy="635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SFT v2
79 </a:t>
            </a:r>
            <a:r>
              <a:rPr lang="zh-CN" altLang="en-US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 含大气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E074183-092A-1CD8-FD0F-D4085098B269}"/>
              </a:ext>
            </a:extLst>
          </p:cNvPr>
          <p:cNvSpPr/>
          <p:nvPr/>
        </p:nvSpPr>
        <p:spPr>
          <a:xfrm>
            <a:off x="4140200" y="11938000"/>
            <a:ext cx="1397000" cy="635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DPO v1
numerical </a:t>
            </a:r>
            <a:r>
              <a:rPr lang="zh-CN" altLang="en-US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2DAE399B-2236-2482-B794-803646F44941}"/>
              </a:ext>
            </a:extLst>
          </p:cNvPr>
          <p:cNvSpPr/>
          <p:nvPr/>
        </p:nvSpPr>
        <p:spPr>
          <a:xfrm>
            <a:off x="5638800" y="11938000"/>
            <a:ext cx="1397000" cy="635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Oracle
</a:t>
            </a:r>
            <a:r>
              <a:rPr lang="zh-CN" altLang="en-US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打分器自洽 </a:t>
            </a:r>
            <a:r>
              <a:rPr lang="en-US" altLang="zh-CN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</a:t>
            </a:r>
            <a:endParaRPr lang="zh-CN" altLang="en-US" sz="900">
              <a:solidFill>
                <a:srgbClr val="2D34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AE268B3A-044A-59A3-7117-9809D80870DC}"/>
              </a:ext>
            </a:extLst>
          </p:cNvPr>
          <p:cNvSpPr/>
          <p:nvPr/>
        </p:nvSpPr>
        <p:spPr>
          <a:xfrm>
            <a:off x="7137400" y="11938000"/>
            <a:ext cx="1397000" cy="635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96A0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7B </a:t>
            </a:r>
            <a:r>
              <a:rPr lang="zh-CN" altLang="en-US" sz="9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教师
本机未跑</a:t>
            </a:r>
          </a:p>
        </p:txBody>
      </p:sp>
      <p:sp>
        <p:nvSpPr>
          <p:cNvPr id="47" name="箭头: 下 46">
            <a:extLst>
              <a:ext uri="{FF2B5EF4-FFF2-40B4-BE49-F238E27FC236}">
                <a16:creationId xmlns:a16="http://schemas.microsoft.com/office/drawing/2014/main" id="{1C2D3EF8-9790-9237-23F0-0393D66D5E35}"/>
              </a:ext>
            </a:extLst>
          </p:cNvPr>
          <p:cNvSpPr/>
          <p:nvPr/>
        </p:nvSpPr>
        <p:spPr>
          <a:xfrm>
            <a:off x="5105400" y="12954000"/>
            <a:ext cx="139700" cy="177800"/>
          </a:xfrm>
          <a:prstGeom prst="downArrow">
            <a:avLst/>
          </a:prstGeom>
          <a:solidFill>
            <a:srgbClr val="464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1E75AD6-C305-2AA1-3AA5-D902488FFAF0}"/>
              </a:ext>
            </a:extLst>
          </p:cNvPr>
          <p:cNvSpPr/>
          <p:nvPr/>
        </p:nvSpPr>
        <p:spPr>
          <a:xfrm>
            <a:off x="1422400" y="13182600"/>
            <a:ext cx="7493000" cy="2235200"/>
          </a:xfrm>
          <a:prstGeom prst="roundRect">
            <a:avLst/>
          </a:prstGeom>
          <a:solidFill>
            <a:srgbClr val="FFF9E1"/>
          </a:solidFill>
          <a:ln w="17145">
            <a:solidFill>
              <a:srgbClr val="C4B08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EA696C0E-1BB1-6161-1F29-AF5D58114AC6}"/>
              </a:ext>
            </a:extLst>
          </p:cNvPr>
          <p:cNvSpPr/>
          <p:nvPr/>
        </p:nvSpPr>
        <p:spPr>
          <a:xfrm>
            <a:off x="177800" y="13766800"/>
            <a:ext cx="1092200" cy="1066800"/>
          </a:xfrm>
          <a:prstGeom prst="roundRect">
            <a:avLst/>
          </a:prstGeom>
          <a:solidFill>
            <a:srgbClr val="2F4050"/>
          </a:solidFill>
          <a:ln w="0">
            <a:solidFill>
              <a:srgbClr val="2F4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
与展望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2AB810F9-DD24-C3F0-283D-416BBA7478A8}"/>
              </a:ext>
            </a:extLst>
          </p:cNvPr>
          <p:cNvSpPr/>
          <p:nvPr/>
        </p:nvSpPr>
        <p:spPr>
          <a:xfrm>
            <a:off x="1625600" y="13385800"/>
            <a:ext cx="7086600" cy="863600"/>
          </a:xfrm>
          <a:prstGeom prst="roundRect">
            <a:avLst/>
          </a:prstGeom>
          <a:solidFill>
            <a:srgbClr val="FDECEA"/>
          </a:solidFill>
          <a:ln w="14605">
            <a:solidFill>
              <a:srgbClr val="D2AA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v2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已能排出湿法脱硫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SCR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脱硝优先序；烟气负荷与基准氧公式仍常算错。
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1.5B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学会的是指令骨架，不是排放标准专家知识。</a:t>
            </a:r>
          </a:p>
        </p:txBody>
      </p:sp>
      <p:sp>
        <p:nvSpPr>
          <p:cNvPr id="51" name="箭头: 下 50">
            <a:extLst>
              <a:ext uri="{FF2B5EF4-FFF2-40B4-BE49-F238E27FC236}">
                <a16:creationId xmlns:a16="http://schemas.microsoft.com/office/drawing/2014/main" id="{DB0AD4A8-3597-DE13-B2EC-3C481A899E33}"/>
              </a:ext>
            </a:extLst>
          </p:cNvPr>
          <p:cNvSpPr/>
          <p:nvPr/>
        </p:nvSpPr>
        <p:spPr>
          <a:xfrm>
            <a:off x="5105400" y="14274800"/>
            <a:ext cx="139700" cy="152400"/>
          </a:xfrm>
          <a:prstGeom prst="downArrow">
            <a:avLst/>
          </a:prstGeom>
          <a:solidFill>
            <a:srgbClr val="464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4B5078A-6A94-6DE9-B1AC-5BAA690B8C0F}"/>
              </a:ext>
            </a:extLst>
          </p:cNvPr>
          <p:cNvSpPr/>
          <p:nvPr/>
        </p:nvSpPr>
        <p:spPr>
          <a:xfrm>
            <a:off x="1625600" y="14452600"/>
            <a:ext cx="7086600" cy="762000"/>
          </a:xfrm>
          <a:prstGeom prst="roundRect">
            <a:avLst/>
          </a:prstGeom>
          <a:solidFill>
            <a:srgbClr val="D6EAF8"/>
          </a:solidFill>
          <a:ln w="14605">
            <a:solidFill>
              <a:srgbClr val="8CB4C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展望：本机路径可复现（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1.5B LoRA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AutoDL 7B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教师九步需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40GB+ GPU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query_rft 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
数字只引用 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output/experiment_summary.json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2026-09-08T12:10:42</a:t>
            </a:r>
            <a:r>
              <a:rPr lang="zh-CN" altLang="en-US" sz="11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E8A4D06-47B0-D597-108D-2CEEF1220D6B}"/>
              </a:ext>
            </a:extLst>
          </p:cNvPr>
          <p:cNvSpPr/>
          <p:nvPr/>
        </p:nvSpPr>
        <p:spPr>
          <a:xfrm>
            <a:off x="1422400" y="15519400"/>
            <a:ext cx="7493000" cy="533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38100" rIns="25400" bIns="38100" rtlCol="0" anchor="ctr"/>
          <a:lstStyle/>
          <a:p>
            <a:r>
              <a:rPr lang="zh-CN" altLang="en-US" sz="1000">
                <a:solidFill>
                  <a:srgbClr val="5C60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 </a:t>
            </a:r>
            <a:r>
              <a:rPr lang="en-US" altLang="zh-CN" sz="1000">
                <a:solidFill>
                  <a:srgbClr val="5C60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EnvIF-TLR </a:t>
            </a:r>
            <a:r>
              <a:rPr lang="zh-CN" altLang="en-US" sz="1000">
                <a:solidFill>
                  <a:srgbClr val="5C60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技术路线（本机可复现主路径）。仓库 </a:t>
            </a:r>
            <a:r>
              <a:rPr lang="en-US" altLang="zh-CN" sz="1000">
                <a:solidFill>
                  <a:srgbClr val="5C60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github.com/yangCao225/EnvIF-LLM</a:t>
            </a:r>
            <a:endParaRPr lang="zh-CN" altLang="en-US" sz="1000">
              <a:solidFill>
                <a:srgbClr val="5C60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858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Microsoft Office PowerPoint</Application>
  <PresentationFormat>自定义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a16766</dc:creator>
  <cp:lastModifiedBy>a16766</cp:lastModifiedBy>
  <cp:revision>1</cp:revision>
  <dcterms:created xsi:type="dcterms:W3CDTF">2026-09-08T09:04:23Z</dcterms:created>
  <dcterms:modified xsi:type="dcterms:W3CDTF">2026-09-08T09:04:23Z</dcterms:modified>
</cp:coreProperties>
</file>